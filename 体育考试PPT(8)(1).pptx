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0"/>
  </p:notesMasterIdLst>
  <p:sldIdLst>
    <p:sldId id="268" r:id="rId3"/>
    <p:sldId id="283" r:id="rId4"/>
    <p:sldId id="272" r:id="rId5"/>
    <p:sldId id="273" r:id="rId6"/>
    <p:sldId id="281" r:id="rId7"/>
    <p:sldId id="274" r:id="rId8"/>
    <p:sldId id="275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1" userDrawn="1">
          <p15:clr>
            <a:srgbClr val="747775"/>
          </p15:clr>
        </p15:guide>
        <p15:guide id="2" pos="291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-14" y="-509"/>
      </p:cViewPr>
      <p:guideLst>
        <p:guide orient="horz" pos="1621"/>
        <p:guide pos="2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image" Target="../media/image10.png"/><Relationship Id="rId3" Type="http://schemas.openxmlformats.org/officeDocument/2006/relationships/tags" Target="../tags/tag4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9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2.png"/><Relationship Id="rId5" Type="http://schemas.openxmlformats.org/officeDocument/2006/relationships/tags" Target="../tags/tag6.xml"/><Relationship Id="rId10" Type="http://schemas.openxmlformats.org/officeDocument/2006/relationships/image" Target="../media/image6.png"/><Relationship Id="rId4" Type="http://schemas.openxmlformats.org/officeDocument/2006/relationships/tags" Target="../tags/tag5.xml"/><Relationship Id="rId9" Type="http://schemas.openxmlformats.org/officeDocument/2006/relationships/image" Target="../media/image1.jpeg"/><Relationship Id="rId1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13" Type="http://schemas.openxmlformats.org/officeDocument/2006/relationships/image" Target="../media/image12.png"/><Relationship Id="rId3" Type="http://schemas.openxmlformats.org/officeDocument/2006/relationships/tags" Target="../tags/tag10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1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image" Target="../media/image2.png"/><Relationship Id="rId5" Type="http://schemas.openxmlformats.org/officeDocument/2006/relationships/tags" Target="../tags/tag12.xml"/><Relationship Id="rId10" Type="http://schemas.openxmlformats.org/officeDocument/2006/relationships/image" Target="../media/image6.png"/><Relationship Id="rId4" Type="http://schemas.openxmlformats.org/officeDocument/2006/relationships/tags" Target="../tags/tag11.xml"/><Relationship Id="rId9" Type="http://schemas.openxmlformats.org/officeDocument/2006/relationships/image" Target="../media/image1.jpeg"/><Relationship Id="rId1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2.png"/><Relationship Id="rId18" Type="http://schemas.openxmlformats.org/officeDocument/2006/relationships/image" Target="../media/image4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6.png"/><Relationship Id="rId17" Type="http://schemas.openxmlformats.org/officeDocument/2006/relationships/image" Target="../media/image16.png"/><Relationship Id="rId2" Type="http://schemas.openxmlformats.org/officeDocument/2006/relationships/tags" Target="../tags/tag15.xml"/><Relationship Id="rId16" Type="http://schemas.openxmlformats.org/officeDocument/2006/relationships/image" Target="../media/image15.png"/><Relationship Id="rId20" Type="http://schemas.openxmlformats.org/officeDocument/2006/relationships/image" Target="../media/image18.pn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1.jpeg"/><Relationship Id="rId5" Type="http://schemas.openxmlformats.org/officeDocument/2006/relationships/tags" Target="../tags/tag18.xml"/><Relationship Id="rId15" Type="http://schemas.openxmlformats.org/officeDocument/2006/relationships/image" Target="../media/image14.png"/><Relationship Id="rId10" Type="http://schemas.openxmlformats.org/officeDocument/2006/relationships/notesSlide" Target="../notesSlides/notesSlide5.xml"/><Relationship Id="rId19" Type="http://schemas.openxmlformats.org/officeDocument/2006/relationships/image" Target="../media/image17.png"/><Relationship Id="rId4" Type="http://schemas.openxmlformats.org/officeDocument/2006/relationships/tags" Target="../tags/tag17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13" Type="http://schemas.openxmlformats.org/officeDocument/2006/relationships/image" Target="../media/image20.png"/><Relationship Id="rId3" Type="http://schemas.openxmlformats.org/officeDocument/2006/relationships/tags" Target="../tags/tag24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9.png"/><Relationship Id="rId2" Type="http://schemas.openxmlformats.org/officeDocument/2006/relationships/tags" Target="../tags/tag23.xml"/><Relationship Id="rId16" Type="http://schemas.openxmlformats.org/officeDocument/2006/relationships/image" Target="../media/image4.png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2.png"/><Relationship Id="rId5" Type="http://schemas.openxmlformats.org/officeDocument/2006/relationships/tags" Target="../tags/tag26.xml"/><Relationship Id="rId15" Type="http://schemas.openxmlformats.org/officeDocument/2006/relationships/image" Target="../media/image22.png"/><Relationship Id="rId10" Type="http://schemas.openxmlformats.org/officeDocument/2006/relationships/image" Target="../media/image6.png"/><Relationship Id="rId4" Type="http://schemas.openxmlformats.org/officeDocument/2006/relationships/tags" Target="../tags/tag25.xml"/><Relationship Id="rId9" Type="http://schemas.openxmlformats.org/officeDocument/2006/relationships/image" Target="../media/image1.jpe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9.png"/><Relationship Id="rId3" Type="http://schemas.openxmlformats.org/officeDocument/2006/relationships/image" Target="../media/image1.jpe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11" Type="http://schemas.openxmlformats.org/officeDocument/2006/relationships/image" Target="../media/image4.png"/><Relationship Id="rId5" Type="http://schemas.openxmlformats.org/officeDocument/2006/relationships/image" Target="../media/image2.png"/><Relationship Id="rId10" Type="http://schemas.openxmlformats.org/officeDocument/2006/relationships/image" Target="../media/image27.png"/><Relationship Id="rId4" Type="http://schemas.openxmlformats.org/officeDocument/2006/relationships/image" Target="../media/image6.png"/><Relationship Id="rId9" Type="http://schemas.openxmlformats.org/officeDocument/2006/relationships/image" Target="../media/image26.png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4"/>
          <a:srcRect t="81" b="81"/>
          <a:stretch>
            <a:fillRect/>
          </a:stretch>
        </p:blipFill>
        <p:spPr>
          <a:xfrm rot="21600000">
            <a:off x="69215" y="0"/>
            <a:ext cx="12213590" cy="68707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5630" y="294005"/>
            <a:ext cx="1116012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6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六年级体测</a:t>
            </a:r>
            <a:endParaRPr lang="zh-CN" altLang="en-US" sz="3600" b="1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8" name="Image 5" descr="https://kimi-img.moonshot.cn/pub/slides/slides_tmpl/image/25-09-08-13:43:38-d2v6q2lnfo2stf9dk97g.png"/>
          <p:cNvPicPr>
            <a:picLocks noChangeAspect="1"/>
          </p:cNvPicPr>
          <p:nvPr/>
        </p:nvPicPr>
        <p:blipFill>
          <a:blip r:embed="rId5"/>
          <a:srcRect t="110" b="110"/>
          <a:stretch>
            <a:fillRect/>
          </a:stretch>
        </p:blipFill>
        <p:spPr>
          <a:xfrm>
            <a:off x="2540" y="266065"/>
            <a:ext cx="579755" cy="652145"/>
          </a:xfrm>
          <a:prstGeom prst="rect">
            <a:avLst/>
          </a:prstGeom>
        </p:spPr>
      </p:pic>
      <p:pic>
        <p:nvPicPr>
          <p:cNvPr id="3" name="图片 2" descr="7b3164bd8d4dc3e70a2f822c5d81b245"/>
          <p:cNvPicPr>
            <a:picLocks noChangeAspect="1"/>
          </p:cNvPicPr>
          <p:nvPr/>
        </p:nvPicPr>
        <p:blipFill>
          <a:blip r:embed="rId6"/>
          <a:srcRect t="4838" b="81433"/>
          <a:stretch>
            <a:fillRect/>
          </a:stretch>
        </p:blipFill>
        <p:spPr>
          <a:xfrm>
            <a:off x="6985" y="1343025"/>
            <a:ext cx="11748770" cy="823595"/>
          </a:xfrm>
          <a:prstGeom prst="rect">
            <a:avLst/>
          </a:prstGeom>
        </p:spPr>
      </p:pic>
      <p:pic>
        <p:nvPicPr>
          <p:cNvPr id="18" name="图片 17" descr="07f70bafe9b848ed079e06e7f31eda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64900" y="71120"/>
            <a:ext cx="831215" cy="8312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rcRect l="20706" t="19528" r="8636" b="24963"/>
          <a:stretch>
            <a:fillRect/>
          </a:stretch>
        </p:blipFill>
        <p:spPr>
          <a:xfrm>
            <a:off x="213360" y="2810510"/>
            <a:ext cx="4485640" cy="404749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12725" y="3693795"/>
            <a:ext cx="4486275" cy="119951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5144770" y="2894330"/>
          <a:ext cx="6603365" cy="3423920"/>
        </p:xfrm>
        <a:graphic>
          <a:graphicData uri="http://schemas.openxmlformats.org/drawingml/2006/table">
            <a:tbl>
              <a:tblPr/>
              <a:tblGrid>
                <a:gridCol w="2601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0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1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9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测试对象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单项指标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权重（</a:t>
                      </a: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%</a:t>
                      </a:r>
                      <a:r>
                        <a:rPr lang="zh-CN" altLang="en-US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）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highlight>
                            <a:srgbClr val="FFFF00"/>
                          </a:highlight>
                          <a:latin typeface="仿宋_GB2312" panose="02010609030101010101" charset="-122"/>
                          <a:ea typeface="仿宋_GB2312" panose="02010609030101010101" charset="-122"/>
                        </a:rPr>
                        <a:t>小学一年级至九年级</a:t>
                      </a:r>
                      <a:r>
                        <a:rPr lang="en-US" altLang="zh-CN" sz="1600" b="1">
                          <a:highlight>
                            <a:srgbClr val="FFFF00"/>
                          </a:highlight>
                          <a:latin typeface="仿宋_GB2312" panose="02010609030101010101" charset="-122"/>
                          <a:ea typeface="仿宋_GB2312" panose="02010609030101010101" charset="-122"/>
                        </a:rPr>
                        <a:t>        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体重指数（</a:t>
                      </a: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BMI</a:t>
                      </a:r>
                      <a:r>
                        <a:rPr lang="zh-CN" altLang="en-US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）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15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肺活量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15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highlight>
                            <a:srgbClr val="00FF00"/>
                          </a:highlight>
                          <a:latin typeface="仿宋_GB2312" panose="02010609030101010101" charset="-122"/>
                          <a:ea typeface="仿宋_GB2312" panose="02010609030101010101" charset="-122"/>
                        </a:rPr>
                        <a:t>小学五、六年级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dirty="0">
                          <a:highlight>
                            <a:srgbClr val="FF0000"/>
                          </a:highlight>
                          <a:latin typeface="仿宋_GB2312" panose="02010609030101010101" charset="-122"/>
                          <a:ea typeface="仿宋_GB2312" panose="02010609030101010101" charset="-122"/>
                        </a:rPr>
                        <a:t>50</a:t>
                      </a:r>
                      <a:r>
                        <a:rPr lang="zh-CN" altLang="en-US" sz="1600" b="1" dirty="0">
                          <a:highlight>
                            <a:srgbClr val="FF0000"/>
                          </a:highlight>
                          <a:latin typeface="仿宋_GB2312" panose="02010609030101010101" charset="-122"/>
                          <a:ea typeface="仿宋_GB2312" panose="02010609030101010101" charset="-122"/>
                        </a:rPr>
                        <a:t>米跑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highlight>
                            <a:srgbClr val="FF0000"/>
                          </a:highlight>
                          <a:latin typeface="仿宋_GB2312" panose="02010609030101010101" charset="-122"/>
                          <a:ea typeface="仿宋_GB2312" panose="02010609030101010101" charset="-122"/>
                        </a:rPr>
                        <a:t>20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坐位体前屈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10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1</a:t>
                      </a:r>
                      <a:r>
                        <a:rPr lang="zh-CN" altLang="en-US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分钟跳绳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10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dirty="0">
                          <a:highlight>
                            <a:srgbClr val="FF0000"/>
                          </a:highlight>
                          <a:latin typeface="仿宋_GB2312" panose="02010609030101010101" charset="-122"/>
                          <a:ea typeface="仿宋_GB2312" panose="02010609030101010101" charset="-122"/>
                        </a:rPr>
                        <a:t>1</a:t>
                      </a:r>
                      <a:r>
                        <a:rPr lang="zh-CN" altLang="en-US" sz="1600" b="1" dirty="0">
                          <a:highlight>
                            <a:srgbClr val="FF0000"/>
                          </a:highlight>
                          <a:latin typeface="仿宋_GB2312" panose="02010609030101010101" charset="-122"/>
                          <a:ea typeface="仿宋_GB2312" panose="02010609030101010101" charset="-122"/>
                        </a:rPr>
                        <a:t>分钟仰卧起坐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highlight>
                            <a:srgbClr val="FF0000"/>
                          </a:highlight>
                          <a:latin typeface="仿宋_GB2312" panose="02010609030101010101" charset="-122"/>
                          <a:ea typeface="仿宋_GB2312" panose="02010609030101010101" charset="-122"/>
                        </a:rPr>
                        <a:t>20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 </a:t>
                      </a: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50</a:t>
                      </a:r>
                      <a:r>
                        <a:rPr lang="zh-CN" altLang="en-US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米</a:t>
                      </a:r>
                      <a:r>
                        <a:rPr lang="en-US" altLang="zh-CN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×8</a:t>
                      </a:r>
                      <a:r>
                        <a:rPr lang="zh-CN" altLang="en-US" sz="1600" b="1">
                          <a:latin typeface="仿宋_GB2312" panose="02010609030101010101" charset="-122"/>
                          <a:ea typeface="仿宋_GB2312" panose="02010609030101010101" charset="-122"/>
                        </a:rPr>
                        <a:t>往返跑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1" dirty="0">
                          <a:latin typeface="仿宋_GB2312" panose="02010609030101010101" charset="-122"/>
                          <a:ea typeface="仿宋_GB2312" panose="02010609030101010101" charset="-122"/>
                        </a:rPr>
                        <a:t>10</a:t>
                      </a:r>
                    </a:p>
                  </a:txBody>
                  <a:tcPr marL="68580" marR="68580" marT="0" marB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3"/>
          <a:srcRect t="81" b="81"/>
          <a:stretch>
            <a:fillRect/>
          </a:stretch>
        </p:blipFill>
        <p:spPr>
          <a:xfrm rot="21600000">
            <a:off x="-69215" y="-12700"/>
            <a:ext cx="12213590" cy="6870700"/>
          </a:xfrm>
          <a:prstGeom prst="rect">
            <a:avLst/>
          </a:prstGeom>
        </p:spPr>
      </p:pic>
      <p:pic>
        <p:nvPicPr>
          <p:cNvPr id="21" name="Image 1" descr="https://kimi-img.moonshot.cn/pub/slides/slides_tmpl/image/25-09-08-13:43:45-d2v6q4dnfo2stf9dk9eg.png"/>
          <p:cNvPicPr>
            <a:picLocks noChangeAspect="1"/>
          </p:cNvPicPr>
          <p:nvPr/>
        </p:nvPicPr>
        <p:blipFill>
          <a:blip r:embed="rId4"/>
          <a:srcRect t="574" b="574"/>
          <a:stretch>
            <a:fillRect/>
          </a:stretch>
        </p:blipFill>
        <p:spPr>
          <a:xfrm flipH="1">
            <a:off x="6941820" y="0"/>
            <a:ext cx="5250180" cy="6858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5630" y="294005"/>
            <a:ext cx="1116012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“</a:t>
            </a:r>
            <a:r>
              <a:rPr lang="zh-CN" altLang="en-US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小学</a:t>
            </a:r>
            <a:r>
              <a:rPr lang="en-US" altLang="zh-CN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”体质测试</a:t>
            </a:r>
            <a:r>
              <a:rPr lang="zh-CN" altLang="en-US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标准</a:t>
            </a:r>
            <a:endParaRPr lang="zh-CN" altLang="en-US" sz="3600" b="1" dirty="0">
              <a:solidFill>
                <a:srgbClr val="000000"/>
              </a:solidFill>
              <a:highlight>
                <a:srgbClr val="FF0000"/>
              </a:highlight>
              <a:latin typeface="MiSans" pitchFamily="34" charset="0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8" name="Image 5" descr="https://kimi-img.moonshot.cn/pub/slides/slides_tmpl/image/25-09-08-13:43:38-d2v6q2lnfo2stf9dk97g.png"/>
          <p:cNvPicPr>
            <a:picLocks noChangeAspect="1"/>
          </p:cNvPicPr>
          <p:nvPr/>
        </p:nvPicPr>
        <p:blipFill>
          <a:blip r:embed="rId5"/>
          <a:srcRect t="110" b="110"/>
          <a:stretch>
            <a:fillRect/>
          </a:stretch>
        </p:blipFill>
        <p:spPr>
          <a:xfrm>
            <a:off x="2540" y="266065"/>
            <a:ext cx="579755" cy="652145"/>
          </a:xfrm>
          <a:prstGeom prst="rect">
            <a:avLst/>
          </a:prstGeom>
        </p:spPr>
      </p:pic>
      <p:pic>
        <p:nvPicPr>
          <p:cNvPr id="5" name="图片 4" descr="07f70bafe9b848ed079e06e7f31eda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4900" y="71120"/>
            <a:ext cx="831215" cy="831215"/>
          </a:xfrm>
          <a:prstGeom prst="rect">
            <a:avLst/>
          </a:prstGeom>
        </p:spPr>
      </p:pic>
      <p:pic>
        <p:nvPicPr>
          <p:cNvPr id="22" name="图片 21" descr="QQ_17834825018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939165"/>
            <a:ext cx="7860030" cy="2806700"/>
          </a:xfrm>
          <a:prstGeom prst="rect">
            <a:avLst/>
          </a:prstGeom>
        </p:spPr>
      </p:pic>
      <p:pic>
        <p:nvPicPr>
          <p:cNvPr id="23" name="图片 22" descr="QQ_178348252187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0" y="3959225"/>
            <a:ext cx="7858125" cy="27406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9"/>
          <a:srcRect t="81" b="81"/>
          <a:stretch>
            <a:fillRect/>
          </a:stretch>
        </p:blipFill>
        <p:spPr>
          <a:xfrm rot="21600000">
            <a:off x="-69215" y="-12700"/>
            <a:ext cx="12213590" cy="6870700"/>
          </a:xfrm>
          <a:prstGeom prst="rect">
            <a:avLst/>
          </a:prstGeom>
        </p:spPr>
      </p:pic>
      <p:pic>
        <p:nvPicPr>
          <p:cNvPr id="21" name="Image 1" descr="https://kimi-img.moonshot.cn/pub/slides/slides_tmpl/image/25-09-08-13:43:45-d2v6q4dnfo2stf9dk9eg.png"/>
          <p:cNvPicPr>
            <a:picLocks noChangeAspect="1"/>
          </p:cNvPicPr>
          <p:nvPr/>
        </p:nvPicPr>
        <p:blipFill>
          <a:blip r:embed="rId10"/>
          <a:srcRect t="574" b="574"/>
          <a:stretch>
            <a:fillRect/>
          </a:stretch>
        </p:blipFill>
        <p:spPr>
          <a:xfrm flipH="1">
            <a:off x="6941820" y="0"/>
            <a:ext cx="5250180" cy="68580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595630" y="294005"/>
            <a:ext cx="1116012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体质测试得分</a:t>
            </a:r>
            <a:r>
              <a:rPr lang="zh-CN" altLang="en-US" sz="36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（单项指标与权重</a:t>
            </a:r>
            <a:r>
              <a:rPr lang="en-US" altLang="zh-CN" sz="36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*</a:t>
            </a:r>
            <a:r>
              <a:rPr lang="zh-CN" altLang="en-US" sz="36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）</a:t>
            </a:r>
            <a:endParaRPr lang="zh-CN" altLang="en-US" sz="3600" b="1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8" name="Image 5" descr="https://kimi-img.moonshot.cn/pub/slides/slides_tmpl/image/25-09-08-13:43:38-d2v6q2lnfo2stf9dk97g.png"/>
          <p:cNvPicPr>
            <a:picLocks noChangeAspect="1"/>
          </p:cNvPicPr>
          <p:nvPr/>
        </p:nvPicPr>
        <p:blipFill>
          <a:blip r:embed="rId11"/>
          <a:srcRect t="110" b="110"/>
          <a:stretch>
            <a:fillRect/>
          </a:stretch>
        </p:blipFill>
        <p:spPr>
          <a:xfrm>
            <a:off x="2540" y="266065"/>
            <a:ext cx="579755" cy="652145"/>
          </a:xfrm>
          <a:prstGeom prst="rect">
            <a:avLst/>
          </a:prstGeom>
        </p:spPr>
      </p:pic>
      <p:sp>
        <p:nvSpPr>
          <p:cNvPr id="20" name="Shape 0"/>
          <p:cNvSpPr/>
          <p:nvPr/>
        </p:nvSpPr>
        <p:spPr>
          <a:xfrm rot="5400000">
            <a:off x="8823325" y="852805"/>
            <a:ext cx="2596515" cy="3202940"/>
          </a:xfrm>
          <a:prstGeom prst="rect">
            <a:avLst/>
          </a:prstGeom>
          <a:solidFill>
            <a:srgbClr val="2B88EC"/>
          </a:solidFill>
        </p:spPr>
      </p:sp>
      <p:sp>
        <p:nvSpPr>
          <p:cNvPr id="3" name="文本框 2"/>
          <p:cNvSpPr txBox="1"/>
          <p:nvPr/>
        </p:nvSpPr>
        <p:spPr>
          <a:xfrm>
            <a:off x="8620760" y="1292225"/>
            <a:ext cx="3101975" cy="27203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latin typeface="+mn-ea"/>
                <a:cs typeface="+mn-ea"/>
                <a:sym typeface="+mn-ea"/>
              </a:rPr>
              <a:t>体重（</a:t>
            </a:r>
            <a:r>
              <a:rPr lang="en-US" altLang="zh-CN" b="1">
                <a:latin typeface="+mn-ea"/>
                <a:cs typeface="+mn-ea"/>
                <a:sym typeface="+mn-ea"/>
              </a:rPr>
              <a:t>BMI</a:t>
            </a:r>
            <a:r>
              <a:rPr lang="zh-CN" altLang="en-US" b="1">
                <a:latin typeface="+mn-ea"/>
                <a:cs typeface="+mn-ea"/>
                <a:sym typeface="+mn-ea"/>
              </a:rPr>
              <a:t>）是国际通用的衡量人体胖瘦程度与健康状况的指标。</a:t>
            </a:r>
            <a:endParaRPr lang="zh-CN" altLang="en-US" b="1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lang="zh-CN" altLang="en-US" b="1">
                <a:latin typeface="+mn-ea"/>
                <a:cs typeface="+mn-ea"/>
                <a:sym typeface="+mn-ea"/>
              </a:rPr>
              <a:t>计算公式：</a:t>
            </a:r>
            <a:endParaRPr lang="zh-CN" altLang="en-US" b="1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lang="zh-CN" altLang="en-US" sz="1600" b="1">
                <a:latin typeface="+mn-ea"/>
                <a:cs typeface="+mn-ea"/>
                <a:sym typeface="+mn-ea"/>
              </a:rPr>
              <a:t>体重</a:t>
            </a:r>
            <a:r>
              <a:rPr lang="en-US" altLang="zh-CN" sz="1600" b="1">
                <a:latin typeface="+mn-ea"/>
                <a:cs typeface="+mn-ea"/>
                <a:sym typeface="+mn-ea"/>
              </a:rPr>
              <a:t>(kg)</a:t>
            </a:r>
            <a:r>
              <a:rPr lang="en-US" altLang="en-US" sz="1600" b="1">
                <a:latin typeface="+mn-ea"/>
                <a:cs typeface="+mn-ea"/>
                <a:sym typeface="+mn-ea"/>
              </a:rPr>
              <a:t>÷</a:t>
            </a:r>
            <a:r>
              <a:rPr lang="zh-CN" altLang="en-US" sz="1600" b="1">
                <a:latin typeface="+mn-ea"/>
                <a:cs typeface="+mn-ea"/>
                <a:sym typeface="+mn-ea"/>
              </a:rPr>
              <a:t>身高</a:t>
            </a:r>
            <a:r>
              <a:rPr lang="en-US" altLang="zh-CN" sz="1600" b="1">
                <a:latin typeface="+mn-ea"/>
                <a:cs typeface="+mn-ea"/>
                <a:sym typeface="+mn-ea"/>
              </a:rPr>
              <a:t>(m)</a:t>
            </a:r>
            <a:r>
              <a:rPr lang="zh-CN" altLang="en-US" sz="1600" b="1">
                <a:latin typeface="+mn-ea"/>
                <a:cs typeface="+mn-ea"/>
                <a:sym typeface="+mn-ea"/>
              </a:rPr>
              <a:t>的平方</a:t>
            </a:r>
            <a:r>
              <a:rPr lang="en-US" altLang="zh-CN" sz="1600" b="1">
                <a:latin typeface="+mn-ea"/>
                <a:cs typeface="+mn-ea"/>
                <a:sym typeface="+mn-ea"/>
              </a:rPr>
              <a:t>=BMI</a:t>
            </a:r>
            <a:endParaRPr lang="zh-CN" altLang="en-US" sz="1600" b="1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lang="en-US" altLang="zh-CN" b="1">
                <a:latin typeface="+mn-ea"/>
                <a:cs typeface="+mn-ea"/>
                <a:sym typeface="+mn-ea"/>
              </a:rPr>
              <a:t>25kg</a:t>
            </a:r>
            <a:r>
              <a:rPr lang="en-US" altLang="en-US" b="1">
                <a:latin typeface="+mn-ea"/>
                <a:cs typeface="+mn-ea"/>
                <a:sym typeface="+mn-ea"/>
              </a:rPr>
              <a:t>÷</a:t>
            </a:r>
            <a:r>
              <a:rPr lang="en-US" altLang="zh-CN" b="1">
                <a:latin typeface="+mn-ea"/>
                <a:cs typeface="+mn-ea"/>
                <a:sym typeface="+mn-ea"/>
              </a:rPr>
              <a:t>1.35m²</a:t>
            </a:r>
            <a:r>
              <a:rPr lang="zh-CN" altLang="en-US" b="1">
                <a:latin typeface="+mn-ea"/>
                <a:cs typeface="+mn-ea"/>
                <a:sym typeface="+mn-ea"/>
              </a:rPr>
              <a:t>（</a:t>
            </a:r>
            <a:r>
              <a:rPr lang="en-US" altLang="zh-CN" b="1">
                <a:latin typeface="+mn-ea"/>
                <a:cs typeface="+mn-ea"/>
                <a:sym typeface="+mn-ea"/>
              </a:rPr>
              <a:t>1.82</a:t>
            </a:r>
            <a:r>
              <a:rPr lang="zh-CN" altLang="en-US" b="1">
                <a:latin typeface="+mn-ea"/>
                <a:cs typeface="+mn-ea"/>
                <a:sym typeface="+mn-ea"/>
              </a:rPr>
              <a:t>）</a:t>
            </a:r>
            <a:r>
              <a:rPr lang="en-US" altLang="zh-CN" b="1">
                <a:latin typeface="+mn-ea"/>
                <a:cs typeface="+mn-ea"/>
                <a:sym typeface="+mn-ea"/>
              </a:rPr>
              <a:t>=13.7</a:t>
            </a:r>
          </a:p>
          <a:p>
            <a:endParaRPr lang="zh-CN" altLang="en-US" b="1">
              <a:latin typeface="+mn-ea"/>
              <a:cs typeface="+mn-ea"/>
              <a:sym typeface="+mn-ea"/>
            </a:endParaRPr>
          </a:p>
          <a:p>
            <a:r>
              <a:rPr lang="zh-CN" altLang="en-US" b="1">
                <a:highlight>
                  <a:srgbClr val="FF0000"/>
                </a:highlight>
                <a:latin typeface="+mn-ea"/>
                <a:cs typeface="+mn-ea"/>
                <a:sym typeface="+mn-ea"/>
              </a:rPr>
              <a:t>单项最高得分</a:t>
            </a:r>
            <a:r>
              <a:rPr lang="en-US" altLang="zh-CN" b="1">
                <a:highlight>
                  <a:srgbClr val="FF0000"/>
                </a:highlight>
                <a:latin typeface="+mn-ea"/>
                <a:cs typeface="+mn-ea"/>
                <a:sym typeface="+mn-ea"/>
              </a:rPr>
              <a:t>1.5</a:t>
            </a:r>
            <a:r>
              <a:rPr lang="zh-CN" altLang="en-US" b="1">
                <a:highlight>
                  <a:srgbClr val="FF0000"/>
                </a:highlight>
                <a:latin typeface="+mn-ea"/>
                <a:cs typeface="+mn-ea"/>
                <a:sym typeface="+mn-ea"/>
              </a:rPr>
              <a:t>分</a:t>
            </a:r>
            <a:endParaRPr lang="en-US" altLang="zh-CN" b="1">
              <a:highlight>
                <a:srgbClr val="FF0000"/>
              </a:highlight>
              <a:latin typeface="+mn-ea"/>
              <a:cs typeface="+mn-ea"/>
              <a:sym typeface="+mn-ea"/>
            </a:endParaRPr>
          </a:p>
          <a:p>
            <a:endParaRPr lang="en-US" altLang="zh-CN" b="1">
              <a:solidFill>
                <a:schemeClr val="tx1"/>
              </a:solidFill>
              <a:highlight>
                <a:srgbClr val="FF0000"/>
              </a:highlight>
              <a:latin typeface="+mn-ea"/>
              <a:cs typeface="+mn-ea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24510" y="1042670"/>
            <a:ext cx="663638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1-1  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男生体重指数（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BMI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）单项评分表（单位：千克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米</a:t>
            </a:r>
            <a:r>
              <a:rPr lang="en-US" altLang="zh-CN" sz="1600" b="1" baseline="30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37820" y="1377315"/>
            <a:ext cx="6734175" cy="208978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614045" y="3580130"/>
            <a:ext cx="663638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1-2  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女生体重指数（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BMI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）单项评分表（单位：千克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米</a:t>
            </a:r>
            <a:r>
              <a:rPr lang="en-US" altLang="zh-CN" sz="1600" b="1" baseline="30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37820" y="4012565"/>
            <a:ext cx="6714490" cy="2145030"/>
          </a:xfrm>
          <a:prstGeom prst="rect">
            <a:avLst/>
          </a:prstGeom>
        </p:spPr>
      </p:pic>
      <p:pic>
        <p:nvPicPr>
          <p:cNvPr id="18" name="图片 17" descr="07f70bafe9b848ed079e06e7f31eda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64900" y="71120"/>
            <a:ext cx="831215" cy="831215"/>
          </a:xfrm>
          <a:prstGeom prst="rect">
            <a:avLst/>
          </a:prstGeom>
        </p:spPr>
      </p:pic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 rot="5400000">
            <a:off x="3804920" y="2049780"/>
            <a:ext cx="2048510" cy="70929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 rot="5400000">
            <a:off x="3804920" y="4773930"/>
            <a:ext cx="2048510" cy="70929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9"/>
          <a:srcRect t="81" b="81"/>
          <a:stretch>
            <a:fillRect/>
          </a:stretch>
        </p:blipFill>
        <p:spPr>
          <a:xfrm rot="21600000">
            <a:off x="-69215" y="-12700"/>
            <a:ext cx="12213590" cy="6870700"/>
          </a:xfrm>
          <a:prstGeom prst="rect">
            <a:avLst/>
          </a:prstGeom>
        </p:spPr>
      </p:pic>
      <p:pic>
        <p:nvPicPr>
          <p:cNvPr id="21" name="Image 1" descr="https://kimi-img.moonshot.cn/pub/slides/slides_tmpl/image/25-09-08-13:43:45-d2v6q4dnfo2stf9dk9eg.png"/>
          <p:cNvPicPr>
            <a:picLocks noChangeAspect="1"/>
          </p:cNvPicPr>
          <p:nvPr/>
        </p:nvPicPr>
        <p:blipFill>
          <a:blip r:embed="rId10"/>
          <a:srcRect t="574" b="574"/>
          <a:stretch>
            <a:fillRect/>
          </a:stretch>
        </p:blipFill>
        <p:spPr>
          <a:xfrm flipH="1">
            <a:off x="6941820" y="0"/>
            <a:ext cx="5250180" cy="6858000"/>
          </a:xfrm>
          <a:prstGeom prst="rect">
            <a:avLst/>
          </a:prstGeom>
        </p:spPr>
      </p:pic>
      <p:sp>
        <p:nvSpPr>
          <p:cNvPr id="13" name="Shape 0"/>
          <p:cNvSpPr/>
          <p:nvPr/>
        </p:nvSpPr>
        <p:spPr>
          <a:xfrm>
            <a:off x="-69215" y="1042670"/>
            <a:ext cx="12261215" cy="5815965"/>
          </a:xfrm>
          <a:prstGeom prst="rect">
            <a:avLst/>
          </a:prstGeom>
          <a:solidFill>
            <a:srgbClr val="2B88EC"/>
          </a:solidFill>
        </p:spPr>
      </p:sp>
      <p:sp>
        <p:nvSpPr>
          <p:cNvPr id="7" name="Text 0"/>
          <p:cNvSpPr/>
          <p:nvPr/>
        </p:nvSpPr>
        <p:spPr>
          <a:xfrm>
            <a:off x="595630" y="294005"/>
            <a:ext cx="1116012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体质测试得分</a:t>
            </a:r>
            <a:r>
              <a:rPr lang="zh-CN" altLang="en-US" sz="36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（单项指标与权重</a:t>
            </a:r>
            <a:r>
              <a:rPr lang="en-US" altLang="zh-CN" sz="36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*</a:t>
            </a:r>
            <a:r>
              <a:rPr lang="zh-CN" altLang="en-US" sz="36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）</a:t>
            </a:r>
            <a:endParaRPr lang="zh-CN" altLang="en-US" sz="3600" b="1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8" name="Image 5" descr="https://kimi-img.moonshot.cn/pub/slides/slides_tmpl/image/25-09-08-13:43:38-d2v6q2lnfo2stf9dk97g.png"/>
          <p:cNvPicPr>
            <a:picLocks noChangeAspect="1"/>
          </p:cNvPicPr>
          <p:nvPr/>
        </p:nvPicPr>
        <p:blipFill>
          <a:blip r:embed="rId11"/>
          <a:srcRect t="110" b="110"/>
          <a:stretch>
            <a:fillRect/>
          </a:stretch>
        </p:blipFill>
        <p:spPr>
          <a:xfrm>
            <a:off x="2540" y="266065"/>
            <a:ext cx="579755" cy="6521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93065" y="5848985"/>
            <a:ext cx="5264150" cy="577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>
                <a:solidFill>
                  <a:schemeClr val="tx1"/>
                </a:solidFill>
                <a:highlight>
                  <a:srgbClr val="FF0000"/>
                </a:highlight>
                <a:latin typeface="+mn-ea"/>
                <a:cs typeface="+mn-ea"/>
              </a:rPr>
              <a:t>肺活量：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0000"/>
                </a:highlight>
                <a:latin typeface="+mn-ea"/>
                <a:cs typeface="+mn-ea"/>
              </a:rPr>
              <a:t>3200=100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0000"/>
                </a:highlight>
                <a:latin typeface="+mn-ea"/>
                <a:cs typeface="+mn-ea"/>
              </a:rPr>
              <a:t>分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0000"/>
                </a:highlight>
                <a:latin typeface="+mn-ea"/>
                <a:cs typeface="+mn-ea"/>
              </a:rPr>
              <a:t>*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0000"/>
                </a:highlight>
                <a:latin typeface="+mn-ea"/>
                <a:cs typeface="+mn-ea"/>
              </a:rPr>
              <a:t>占比</a:t>
            </a:r>
            <a:r>
              <a:rPr lang="en-US" altLang="zh-CN" sz="2400" b="1">
                <a:solidFill>
                  <a:schemeClr val="tx1"/>
                </a:solidFill>
                <a:highlight>
                  <a:srgbClr val="FF0000"/>
                </a:highlight>
                <a:latin typeface="+mn-ea"/>
                <a:cs typeface="+mn-ea"/>
              </a:rPr>
              <a:t>15%=1.5</a:t>
            </a:r>
            <a:r>
              <a:rPr lang="zh-CN" altLang="en-US" sz="2400" b="1">
                <a:solidFill>
                  <a:schemeClr val="tx1"/>
                </a:solidFill>
                <a:highlight>
                  <a:srgbClr val="FF0000"/>
                </a:highlight>
                <a:latin typeface="+mn-ea"/>
                <a:cs typeface="+mn-ea"/>
              </a:rPr>
              <a:t>分</a:t>
            </a: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393700" y="1042670"/>
            <a:ext cx="49510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1-3  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男生肺活量单项评分表（单位：毫升）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3185" y="1379855"/>
            <a:ext cx="5572125" cy="408622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6842125" y="990600"/>
            <a:ext cx="427418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1-4  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女生肺活量单项评分表（单位：毫升）</a:t>
            </a: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202680" y="1379855"/>
            <a:ext cx="5553075" cy="4067175"/>
          </a:xfrm>
          <a:prstGeom prst="rect">
            <a:avLst/>
          </a:prstGeom>
        </p:spPr>
      </p:pic>
      <p:pic>
        <p:nvPicPr>
          <p:cNvPr id="18" name="图片 17" descr="07f70bafe9b848ed079e06e7f31eda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64900" y="71120"/>
            <a:ext cx="831215" cy="83121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 rot="5400000">
            <a:off x="3157855" y="1805305"/>
            <a:ext cx="1367790" cy="51752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 rot="5400000">
            <a:off x="9227820" y="1804035"/>
            <a:ext cx="1367790" cy="51752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11"/>
          <a:srcRect t="81" b="81"/>
          <a:stretch>
            <a:fillRect/>
          </a:stretch>
        </p:blipFill>
        <p:spPr>
          <a:xfrm rot="21600000">
            <a:off x="-69215" y="-12700"/>
            <a:ext cx="12213590" cy="6870700"/>
          </a:xfrm>
          <a:prstGeom prst="rect">
            <a:avLst/>
          </a:prstGeom>
        </p:spPr>
      </p:pic>
      <p:pic>
        <p:nvPicPr>
          <p:cNvPr id="21" name="Image 1" descr="https://kimi-img.moonshot.cn/pub/slides/slides_tmpl/image/25-09-08-13:43:45-d2v6q4dnfo2stf9dk9eg.png"/>
          <p:cNvPicPr>
            <a:picLocks noChangeAspect="1"/>
          </p:cNvPicPr>
          <p:nvPr/>
        </p:nvPicPr>
        <p:blipFill>
          <a:blip r:embed="rId12"/>
          <a:srcRect t="574" b="574"/>
          <a:stretch>
            <a:fillRect/>
          </a:stretch>
        </p:blipFill>
        <p:spPr>
          <a:xfrm flipH="1">
            <a:off x="6941820" y="0"/>
            <a:ext cx="5250180" cy="6858000"/>
          </a:xfrm>
          <a:prstGeom prst="rect">
            <a:avLst/>
          </a:prstGeom>
        </p:spPr>
      </p:pic>
      <p:sp>
        <p:nvSpPr>
          <p:cNvPr id="13" name="Shape 0"/>
          <p:cNvSpPr/>
          <p:nvPr/>
        </p:nvSpPr>
        <p:spPr>
          <a:xfrm>
            <a:off x="-69215" y="1042670"/>
            <a:ext cx="12261215" cy="5815965"/>
          </a:xfrm>
          <a:prstGeom prst="rect">
            <a:avLst/>
          </a:prstGeom>
          <a:solidFill>
            <a:srgbClr val="2B88EC"/>
          </a:solidFill>
        </p:spPr>
      </p:sp>
      <p:sp>
        <p:nvSpPr>
          <p:cNvPr id="7" name="Text 0"/>
          <p:cNvSpPr/>
          <p:nvPr/>
        </p:nvSpPr>
        <p:spPr>
          <a:xfrm>
            <a:off x="595630" y="294005"/>
            <a:ext cx="11160125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“</a:t>
            </a:r>
            <a:r>
              <a:rPr lang="zh-CN" altLang="en-US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小学</a:t>
            </a:r>
            <a:r>
              <a:rPr lang="en-US" altLang="zh-CN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”体质测试</a:t>
            </a:r>
            <a:r>
              <a:rPr lang="zh-CN" altLang="en-US" sz="4000" b="1" dirty="0">
                <a:highlight>
                  <a:srgbClr val="FF0000"/>
                </a:highlight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加分</a:t>
            </a:r>
            <a:endParaRPr lang="zh-CN" altLang="en-US" sz="4000" b="1" dirty="0">
              <a:solidFill>
                <a:srgbClr val="000000"/>
              </a:solidFill>
              <a:highlight>
                <a:srgbClr val="FF0000"/>
              </a:highlight>
              <a:latin typeface="MiSans" pitchFamily="34" charset="0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8" name="Image 5" descr="https://kimi-img.moonshot.cn/pub/slides/slides_tmpl/image/25-09-08-13:43:38-d2v6q2lnfo2stf9dk97g.png"/>
          <p:cNvPicPr>
            <a:picLocks noChangeAspect="1"/>
          </p:cNvPicPr>
          <p:nvPr/>
        </p:nvPicPr>
        <p:blipFill>
          <a:blip r:embed="rId13"/>
          <a:srcRect t="110" b="110"/>
          <a:stretch>
            <a:fillRect/>
          </a:stretch>
        </p:blipFill>
        <p:spPr>
          <a:xfrm>
            <a:off x="2540" y="266065"/>
            <a:ext cx="579755" cy="65214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2540" y="1247140"/>
            <a:ext cx="5688965" cy="3143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1-5  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男生一分钟跳绳单项评分表（单位：次）</a:t>
            </a: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0" y="3397250"/>
            <a:ext cx="56889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表1-6  女生一分钟跳绳单项评分表（单位：次）</a:t>
            </a: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06045" y="1581150"/>
            <a:ext cx="6008370" cy="174625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045" y="3723640"/>
            <a:ext cx="5967730" cy="18865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04585" y="1116330"/>
            <a:ext cx="5629275" cy="27057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04585" y="3937635"/>
            <a:ext cx="5629275" cy="2706370"/>
          </a:xfrm>
          <a:prstGeom prst="rect">
            <a:avLst/>
          </a:prstGeom>
        </p:spPr>
      </p:pic>
      <p:pic>
        <p:nvPicPr>
          <p:cNvPr id="5" name="图片 4" descr="07f70bafe9b848ed079e06e7f31eda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64900" y="71120"/>
            <a:ext cx="831215" cy="8312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6045" y="5778500"/>
            <a:ext cx="60064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个数得分</a:t>
            </a:r>
            <a:r>
              <a:rPr lang="en-US" altLang="zh-CN" sz="1600" b="1">
                <a:solidFill>
                  <a:srgbClr val="FF0000"/>
                </a:solidFill>
              </a:rPr>
              <a:t>*</a:t>
            </a:r>
            <a:r>
              <a:rPr lang="zh-CN" altLang="en-US" sz="1600" b="1">
                <a:solidFill>
                  <a:srgbClr val="FF0000"/>
                </a:solidFill>
                <a:sym typeface="+mn-ea"/>
              </a:rPr>
              <a:t>跳绳</a:t>
            </a:r>
            <a:r>
              <a:rPr lang="en-US" altLang="zh-CN" sz="1600" b="1">
                <a:solidFill>
                  <a:srgbClr val="FF0000"/>
                </a:solidFill>
                <a:sym typeface="+mn-ea"/>
              </a:rPr>
              <a:t>=</a:t>
            </a:r>
            <a:r>
              <a:rPr lang="zh-CN" altLang="en-US" sz="1600" b="1">
                <a:solidFill>
                  <a:srgbClr val="FF0000"/>
                </a:solidFill>
                <a:sym typeface="+mn-ea"/>
              </a:rPr>
              <a:t>单项得分</a:t>
            </a:r>
            <a:r>
              <a:rPr lang="zh-CN" altLang="en-US" sz="1600" b="1">
                <a:solidFill>
                  <a:srgbClr val="FF0000"/>
                </a:solidFill>
              </a:rPr>
              <a:t>占比</a:t>
            </a:r>
            <a:r>
              <a:rPr lang="en-US" altLang="zh-CN" sz="1600" b="1">
                <a:solidFill>
                  <a:srgbClr val="FF0000"/>
                </a:solidFill>
              </a:rPr>
              <a:t>/</a:t>
            </a:r>
            <a:r>
              <a:rPr lang="zh-CN" altLang="en-US" sz="1600" b="1">
                <a:solidFill>
                  <a:srgbClr val="FF0000"/>
                </a:solidFill>
              </a:rPr>
              <a:t>换算</a:t>
            </a:r>
            <a:r>
              <a:rPr lang="en-US" altLang="zh-CN" sz="1600" b="1">
                <a:solidFill>
                  <a:srgbClr val="FF0000"/>
                </a:solidFill>
              </a:rPr>
              <a:t>90</a:t>
            </a:r>
            <a:r>
              <a:rPr lang="zh-CN" altLang="en-US" sz="1600" b="1">
                <a:solidFill>
                  <a:srgbClr val="FF0000"/>
                </a:solidFill>
              </a:rPr>
              <a:t>（</a:t>
            </a:r>
            <a:r>
              <a:rPr lang="en-US" altLang="zh-CN" sz="1600" b="1">
                <a:solidFill>
                  <a:srgbClr val="FF0000"/>
                </a:solidFill>
              </a:rPr>
              <a:t>118</a:t>
            </a:r>
            <a:r>
              <a:rPr lang="zh-CN" altLang="en-US" sz="1600" b="1">
                <a:solidFill>
                  <a:srgbClr val="FF0000"/>
                </a:solidFill>
              </a:rPr>
              <a:t>个）</a:t>
            </a:r>
            <a:r>
              <a:rPr lang="en-US" altLang="zh-CN" sz="1600" b="1">
                <a:solidFill>
                  <a:srgbClr val="FF0000"/>
                </a:solidFill>
              </a:rPr>
              <a:t>*0.02=1.8</a:t>
            </a:r>
            <a:r>
              <a:rPr lang="zh-CN" altLang="en-US" sz="1600" b="1">
                <a:solidFill>
                  <a:srgbClr val="FF0000"/>
                </a:solidFill>
              </a:rPr>
              <a:t>分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0" y="6130925"/>
            <a:ext cx="10661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6</a:t>
            </a:r>
            <a:r>
              <a:rPr lang="zh-CN" altLang="en-US" sz="1400"/>
              <a:t>年级男生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6785" y="6130925"/>
            <a:ext cx="2572385" cy="3327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19170" y="6117590"/>
            <a:ext cx="2447925" cy="34734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 rot="5400000">
            <a:off x="4752975" y="2007235"/>
            <a:ext cx="1791970" cy="84899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 rot="5400000">
            <a:off x="4752975" y="4224020"/>
            <a:ext cx="1791970" cy="84899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>
            <p:custDataLst>
              <p:tags r:id="rId7"/>
            </p:custDataLst>
          </p:nvPr>
        </p:nvSpPr>
        <p:spPr>
          <a:xfrm rot="5400000">
            <a:off x="10047605" y="2052955"/>
            <a:ext cx="2722880" cy="84899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 rot="5400000">
            <a:off x="10047605" y="4891405"/>
            <a:ext cx="2722880" cy="84899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9"/>
          <a:srcRect t="81" b="81"/>
          <a:stretch>
            <a:fillRect/>
          </a:stretch>
        </p:blipFill>
        <p:spPr>
          <a:xfrm rot="21600000">
            <a:off x="-69215" y="-12700"/>
            <a:ext cx="12213590" cy="6870700"/>
          </a:xfrm>
          <a:prstGeom prst="rect">
            <a:avLst/>
          </a:prstGeom>
        </p:spPr>
      </p:pic>
      <p:pic>
        <p:nvPicPr>
          <p:cNvPr id="21" name="Image 1" descr="https://kimi-img.moonshot.cn/pub/slides/slides_tmpl/image/25-09-08-13:43:45-d2v6q4dnfo2stf9dk9eg.png"/>
          <p:cNvPicPr>
            <a:picLocks noChangeAspect="1"/>
          </p:cNvPicPr>
          <p:nvPr/>
        </p:nvPicPr>
        <p:blipFill>
          <a:blip r:embed="rId10"/>
          <a:srcRect t="574" b="574"/>
          <a:stretch>
            <a:fillRect/>
          </a:stretch>
        </p:blipFill>
        <p:spPr>
          <a:xfrm flipH="1">
            <a:off x="6941820" y="0"/>
            <a:ext cx="5250180" cy="6858000"/>
          </a:xfrm>
          <a:prstGeom prst="rect">
            <a:avLst/>
          </a:prstGeom>
        </p:spPr>
      </p:pic>
      <p:sp>
        <p:nvSpPr>
          <p:cNvPr id="13" name="Shape 0"/>
          <p:cNvSpPr/>
          <p:nvPr/>
        </p:nvSpPr>
        <p:spPr>
          <a:xfrm>
            <a:off x="-69215" y="1042670"/>
            <a:ext cx="12261215" cy="5815965"/>
          </a:xfrm>
          <a:prstGeom prst="rect">
            <a:avLst/>
          </a:prstGeom>
          <a:solidFill>
            <a:srgbClr val="2B88EC"/>
          </a:solidFill>
        </p:spPr>
      </p:sp>
      <p:sp>
        <p:nvSpPr>
          <p:cNvPr id="7" name="Text 0"/>
          <p:cNvSpPr/>
          <p:nvPr/>
        </p:nvSpPr>
        <p:spPr>
          <a:xfrm>
            <a:off x="595630" y="294005"/>
            <a:ext cx="11160125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“</a:t>
            </a:r>
            <a:r>
              <a:rPr lang="zh-CN" altLang="en-US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中学</a:t>
            </a:r>
            <a:r>
              <a:rPr lang="en-US" altLang="zh-CN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”体质测试</a:t>
            </a:r>
            <a:r>
              <a:rPr lang="zh-CN" altLang="en-US" sz="4000" b="1" dirty="0">
                <a:highlight>
                  <a:srgbClr val="FF0000"/>
                </a:highlight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加分</a:t>
            </a:r>
            <a:endParaRPr lang="zh-CN" altLang="en-US" sz="4000" b="1" dirty="0">
              <a:solidFill>
                <a:srgbClr val="000000"/>
              </a:solidFill>
              <a:highlight>
                <a:srgbClr val="FF0000"/>
              </a:highlight>
              <a:latin typeface="MiSans" pitchFamily="34" charset="0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8" name="Image 5" descr="https://kimi-img.moonshot.cn/pub/slides/slides_tmpl/image/25-09-08-13:43:38-d2v6q2lnfo2stf9dk97g.png"/>
          <p:cNvPicPr>
            <a:picLocks noChangeAspect="1"/>
          </p:cNvPicPr>
          <p:nvPr/>
        </p:nvPicPr>
        <p:blipFill>
          <a:blip r:embed="rId11"/>
          <a:srcRect t="110" b="110"/>
          <a:stretch>
            <a:fillRect/>
          </a:stretch>
        </p:blipFill>
        <p:spPr>
          <a:xfrm>
            <a:off x="2540" y="266065"/>
            <a:ext cx="579755" cy="652145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2540" y="1247140"/>
            <a:ext cx="5688965" cy="3143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1-7  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男生耐力跑单项评分表（单位：分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秒）</a:t>
            </a: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2540" y="3782060"/>
            <a:ext cx="56889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1-8  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女生耐力跑单项评分表（单位：分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·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秒）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51130" y="1626870"/>
            <a:ext cx="7913370" cy="20726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51130" y="4201795"/>
            <a:ext cx="7912735" cy="21888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42300" y="1626870"/>
            <a:ext cx="3619500" cy="20567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42300" y="4201795"/>
            <a:ext cx="3632200" cy="2181860"/>
          </a:xfrm>
          <a:prstGeom prst="rect">
            <a:avLst/>
          </a:prstGeom>
        </p:spPr>
      </p:pic>
      <p:pic>
        <p:nvPicPr>
          <p:cNvPr id="18" name="图片 17" descr="07f70bafe9b848ed079e06e7f31eda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64900" y="71120"/>
            <a:ext cx="831215" cy="831215"/>
          </a:xfrm>
          <a:prstGeom prst="rect">
            <a:avLst/>
          </a:prstGeom>
        </p:spPr>
      </p:pic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 rot="5400000">
            <a:off x="2664460" y="2108835"/>
            <a:ext cx="2038350" cy="1235710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 rot="5400000">
            <a:off x="2602230" y="4664710"/>
            <a:ext cx="2162810" cy="1235710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3:43:39-d2v6q2tnfo2stf9dk98g.jpg"/>
          <p:cNvPicPr>
            <a:picLocks noChangeAspect="1"/>
          </p:cNvPicPr>
          <p:nvPr/>
        </p:nvPicPr>
        <p:blipFill>
          <a:blip r:embed="rId3"/>
          <a:srcRect t="81" b="81"/>
          <a:stretch>
            <a:fillRect/>
          </a:stretch>
        </p:blipFill>
        <p:spPr>
          <a:xfrm rot="21600000">
            <a:off x="-69215" y="-12700"/>
            <a:ext cx="12213590" cy="6870700"/>
          </a:xfrm>
          <a:prstGeom prst="rect">
            <a:avLst/>
          </a:prstGeom>
        </p:spPr>
      </p:pic>
      <p:pic>
        <p:nvPicPr>
          <p:cNvPr id="21" name="Image 1" descr="https://kimi-img.moonshot.cn/pub/slides/slides_tmpl/image/25-09-08-13:43:45-d2v6q4dnfo2stf9dk9eg.png"/>
          <p:cNvPicPr>
            <a:picLocks noChangeAspect="1"/>
          </p:cNvPicPr>
          <p:nvPr/>
        </p:nvPicPr>
        <p:blipFill>
          <a:blip r:embed="rId4"/>
          <a:srcRect t="574" b="574"/>
          <a:stretch>
            <a:fillRect/>
          </a:stretch>
        </p:blipFill>
        <p:spPr>
          <a:xfrm flipH="1">
            <a:off x="6941820" y="0"/>
            <a:ext cx="5250180" cy="6858000"/>
          </a:xfrm>
          <a:prstGeom prst="rect">
            <a:avLst/>
          </a:prstGeom>
        </p:spPr>
      </p:pic>
      <p:sp>
        <p:nvSpPr>
          <p:cNvPr id="13" name="Shape 0"/>
          <p:cNvSpPr/>
          <p:nvPr/>
        </p:nvSpPr>
        <p:spPr>
          <a:xfrm>
            <a:off x="-69215" y="1042670"/>
            <a:ext cx="12261215" cy="5815965"/>
          </a:xfrm>
          <a:prstGeom prst="rect">
            <a:avLst/>
          </a:prstGeom>
          <a:solidFill>
            <a:srgbClr val="2B88EC"/>
          </a:solidFill>
        </p:spPr>
      </p:sp>
      <p:sp>
        <p:nvSpPr>
          <p:cNvPr id="7" name="Text 0"/>
          <p:cNvSpPr/>
          <p:nvPr/>
        </p:nvSpPr>
        <p:spPr>
          <a:xfrm>
            <a:off x="595630" y="294005"/>
            <a:ext cx="11160125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“</a:t>
            </a:r>
            <a:r>
              <a:rPr lang="zh-CN" altLang="en-US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中学</a:t>
            </a:r>
            <a:r>
              <a:rPr lang="en-US" altLang="zh-CN" sz="3600" b="1" dirty="0"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”体质测试</a:t>
            </a:r>
            <a:r>
              <a:rPr lang="zh-CN" altLang="en-US" sz="4000" b="1" dirty="0">
                <a:highlight>
                  <a:srgbClr val="FF0000"/>
                </a:highlight>
                <a:latin typeface="MiSans" pitchFamily="34" charset="0"/>
                <a:ea typeface="MiSans" pitchFamily="34" charset="-122"/>
                <a:cs typeface="MiSans" pitchFamily="34" charset="-120"/>
                <a:sym typeface="+mn-ea"/>
              </a:rPr>
              <a:t>加分</a:t>
            </a:r>
            <a:endParaRPr lang="zh-CN" altLang="en-US" sz="4000" b="1" dirty="0">
              <a:solidFill>
                <a:srgbClr val="000000"/>
              </a:solidFill>
              <a:highlight>
                <a:srgbClr val="FF0000"/>
              </a:highlight>
              <a:latin typeface="MiSans" pitchFamily="34" charset="0"/>
              <a:ea typeface="MiSans" pitchFamily="34" charset="-122"/>
              <a:cs typeface="MiSans" pitchFamily="34" charset="-120"/>
              <a:sym typeface="+mn-ea"/>
            </a:endParaRPr>
          </a:p>
        </p:txBody>
      </p:sp>
      <p:pic>
        <p:nvPicPr>
          <p:cNvPr id="8" name="Image 5" descr="https://kimi-img.moonshot.cn/pub/slides/slides_tmpl/image/25-09-08-13:43:38-d2v6q2lnfo2stf9dk97g.png"/>
          <p:cNvPicPr>
            <a:picLocks noChangeAspect="1"/>
          </p:cNvPicPr>
          <p:nvPr/>
        </p:nvPicPr>
        <p:blipFill>
          <a:blip r:embed="rId5"/>
          <a:srcRect t="110" b="110"/>
          <a:stretch>
            <a:fillRect/>
          </a:stretch>
        </p:blipFill>
        <p:spPr>
          <a:xfrm>
            <a:off x="2540" y="266065"/>
            <a:ext cx="579755" cy="6521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3410" y="1626235"/>
            <a:ext cx="3638550" cy="20574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2935" y="4085590"/>
            <a:ext cx="3629025" cy="20574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525" y="3926840"/>
            <a:ext cx="7381240" cy="190055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2540" y="1247140"/>
            <a:ext cx="5688965" cy="31432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1-9  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男生引体向上单项评分表（单位：次）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0" y="3589655"/>
            <a:ext cx="568896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</a:rPr>
              <a:t>1-10  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</a:rPr>
              <a:t>女生一分钟仰卧起坐单项评分表（单位：次）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rcRect r="5962" b="2931"/>
          <a:stretch>
            <a:fillRect/>
          </a:stretch>
        </p:blipFill>
        <p:spPr>
          <a:xfrm>
            <a:off x="517525" y="1678305"/>
            <a:ext cx="1306830" cy="183007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9270" y="1678305"/>
            <a:ext cx="2577465" cy="1849120"/>
          </a:xfrm>
          <a:prstGeom prst="rect">
            <a:avLst/>
          </a:prstGeom>
        </p:spPr>
      </p:pic>
      <p:pic>
        <p:nvPicPr>
          <p:cNvPr id="23" name="图片 22" descr="07f70bafe9b848ed079e06e7f31eda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64900" y="71120"/>
            <a:ext cx="831215" cy="8312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525" y="5955030"/>
            <a:ext cx="2457450" cy="419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4975" y="5937250"/>
            <a:ext cx="2438400" cy="447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13375" y="5955030"/>
            <a:ext cx="2447925" cy="4286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17525" y="6384925"/>
            <a:ext cx="1242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8</a:t>
            </a:r>
            <a:r>
              <a:rPr lang="zh-CN" altLang="en-US"/>
              <a:t>年级女生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12*376"/>
  <p:tag name="TABLE_ENDDRAG_RECT" val="416*205*512*3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75,&quot;left&quot;:26.6,&quot;top&quot;:82.1,&quot;width&quot;:544.3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75,&quot;left&quot;:26.6,&quot;top&quot;:82.1,&quot;width&quot;:544.3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75,&quot;left&quot;:26.6,&quot;top&quot;:82.1,&quot;width&quot;:544.3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75,&quot;left&quot;:26.6,&quot;top&quot;:82.1,&quot;width&quot;:544.3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75,&quot;left&quot;:26.6,&quot;top&quot;:82.1,&quot;width&quot;:544.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75,&quot;left&quot;:26.6,&quot;top&quot;:82.1,&quot;width&quot;:544.3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85,&quot;left&quot;:6.55,&quot;top&quot;:78,&quot;width&quot;:919.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85,&quot;left&quot;:6.55,&quot;top&quot;:78,&quot;width&quot;:919.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85,&quot;left&quot;:6.55,&quot;top&quot;:78,&quot;width&quot;:919.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6.85,&quot;left&quot;:6.55,&quot;top&quot;:78,&quot;width&quot;:919.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75,&quot;left&quot;:26.6,&quot;top&quot;:82.1,&quot;width&quot;:544.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75,&quot;left&quot;:26.6,&quot;top&quot;:82.1,&quot;width&quot;:544.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4,&quot;left&quot;:0,&quot;top&quot;:98.2,&quot;width&quot;:649.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4,&quot;left&quot;:0,&quot;top&quot;:98.2,&quot;width&quot;:649.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4,&quot;left&quot;:0,&quot;top&quot;:98.2,&quot;width&quot;:649.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4,&quot;left&quot;:0,&quot;top&quot;:98.2,&quot;width&quot;:649.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1,&quot;left&quot;:0.2,&quot;top&quot;:82.1,&quot;width&quot;:634.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1,&quot;left&quot;:0.2,&quot;top&quot;:82.1,&quot;width&quot;:634.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1,&quot;left&quot;:0.2,&quot;top&quot;:82.1,&quot;width&quot;:634.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1,&quot;left&quot;:0.2,&quot;top&quot;:82.1,&quot;width&quot;:634.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1,&quot;left&quot;:0.2,&quot;top&quot;:82.1,&quot;width&quot;:634.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1,&quot;left&quot;:0.2,&quot;top&quot;:82.1,&quot;width&quot;:634.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1,&quot;left&quot;:0.2,&quot;top&quot;:82.1,&quot;width&quot;:634.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1,&quot;left&quot;:0.2,&quot;top&quot;:82.1,&quot;width&quot;:634.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1,&quot;left&quot;:0.2,&quot;top&quot;:82.1,&quot;width&quot;:634.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1.1,&quot;left&quot;:0.2,&quot;top&quot;:82.1,&quot;width&quot;:634.8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321</Words>
  <Application>Microsoft Office PowerPoint</Application>
  <PresentationFormat>宽屏</PresentationFormat>
  <Paragraphs>58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MiSans</vt:lpstr>
      <vt:lpstr>仿宋_GB2312</vt:lpstr>
      <vt:lpstr>宋体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czd99053</dc:creator>
  <cp:lastModifiedBy>ZHONGDE CHEN</cp:lastModifiedBy>
  <cp:revision>7</cp:revision>
  <dcterms:created xsi:type="dcterms:W3CDTF">2026-03-26T01:04:00Z</dcterms:created>
  <dcterms:modified xsi:type="dcterms:W3CDTF">2026-08-23T10:10:39Z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82BFA987F113447D92FC91E5FA6A79F9_13</vt:lpwstr>
  </property>
</Properties>
</file>